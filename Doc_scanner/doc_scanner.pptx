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8"/>
  </p:notes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257" r:id="rId26"/>
    <p:sldId id="328" r:id="rId27"/>
  </p:sldIdLst>
  <p:sldSz cx="9144000" cy="5143500" type="screen16x9"/>
  <p:notesSz cx="6858000" cy="9144000"/>
  <p:embeddedFontLst>
    <p:embeddedFont>
      <p:font typeface="Figtree Black" panose="020B0604020202020204" charset="0"/>
      <p:bold r:id="rId29"/>
      <p:boldItalic r:id="rId30"/>
    </p:embeddedFont>
    <p:embeddedFont>
      <p:font typeface="Hanken Grotesk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22DA56-EB7B-4E99-A7E5-FFD76A478E94}">
  <a:tblStyle styleId="{FD22DA56-EB7B-4E99-A7E5-FFD76A478E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32" y="10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D07A939A-33E1-A302-87A9-7DD763EC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5EABBCBD-111E-C24F-E1B9-287D4BAC1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DCE7B0D2-CC25-FA22-A8A2-05A89F14D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95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914416D8-77FB-CDC6-53BA-EE64643D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>
            <a:extLst>
              <a:ext uri="{FF2B5EF4-FFF2-40B4-BE49-F238E27FC236}">
                <a16:creationId xmlns:a16="http://schemas.microsoft.com/office/drawing/2014/main" id="{DE3B7D17-3ABF-4038-69F2-6D5D967F1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>
            <a:extLst>
              <a:ext uri="{FF2B5EF4-FFF2-40B4-BE49-F238E27FC236}">
                <a16:creationId xmlns:a16="http://schemas.microsoft.com/office/drawing/2014/main" id="{F2679ADB-2B06-B401-493A-92769C2F4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623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DEAD33D6-AF33-9EE9-9342-71B94F53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87348B4D-72F5-655C-881F-004718D4C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8CD33201-E158-53D8-68D6-896653EAE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509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C8EEB586-98FF-B543-38D8-018F978A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>
            <a:extLst>
              <a:ext uri="{FF2B5EF4-FFF2-40B4-BE49-F238E27FC236}">
                <a16:creationId xmlns:a16="http://schemas.microsoft.com/office/drawing/2014/main" id="{E96EB9CE-93F4-5125-7F8D-B5D1DBC20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>
            <a:extLst>
              <a:ext uri="{FF2B5EF4-FFF2-40B4-BE49-F238E27FC236}">
                <a16:creationId xmlns:a16="http://schemas.microsoft.com/office/drawing/2014/main" id="{B473B23D-E2AF-4EC9-465B-8AFE2EE9A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973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FD1C9531-2C1A-EC67-7438-9C9613C1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8B01C1E6-9DD0-555D-9F05-334FD1EBC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8C09EF2C-2E0E-8734-2289-7C12493D6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995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EF4D97BB-6209-B474-3D8C-B2B17E92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>
            <a:extLst>
              <a:ext uri="{FF2B5EF4-FFF2-40B4-BE49-F238E27FC236}">
                <a16:creationId xmlns:a16="http://schemas.microsoft.com/office/drawing/2014/main" id="{B1F83942-1E84-891E-EDA7-5F52CD43D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>
            <a:extLst>
              <a:ext uri="{FF2B5EF4-FFF2-40B4-BE49-F238E27FC236}">
                <a16:creationId xmlns:a16="http://schemas.microsoft.com/office/drawing/2014/main" id="{C8E59F43-5BD4-E924-0000-46389A5FE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2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1642FCB3-3D25-859B-ADF8-8623EA80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51129BB9-2AE7-456A-74B3-ADB7448B8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934DDB59-D2A0-8DE8-F8DC-952F239AC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316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3C1A029E-9ACA-B970-6A2F-34ED9158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B4ABF390-1E53-1CDE-781E-4E6E1D8CC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DB8B9338-CC74-ED70-DCF2-2EA30DA88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55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8E22BCCC-8F21-E866-1FDD-7797860F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161ca7da69_2_0:notes">
            <a:extLst>
              <a:ext uri="{FF2B5EF4-FFF2-40B4-BE49-F238E27FC236}">
                <a16:creationId xmlns:a16="http://schemas.microsoft.com/office/drawing/2014/main" id="{7D899824-609F-FB9A-15D7-F66E69CEE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161ca7da69_2_0:notes">
            <a:extLst>
              <a:ext uri="{FF2B5EF4-FFF2-40B4-BE49-F238E27FC236}">
                <a16:creationId xmlns:a16="http://schemas.microsoft.com/office/drawing/2014/main" id="{DA6282CB-F6CD-4ACE-AC6D-5D87EE533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223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46077F15-D5CC-9A6A-A652-A25492EF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79A23731-064A-5A92-42B5-B6E38EC1B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70FE03D9-3A81-A919-5658-4F22FA5D6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753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D0819879-52EC-F480-0F3D-C8351CE3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DCCBA78F-4C31-1744-FED2-58CFE136E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4B718ADF-017B-D38F-D62B-0539B05B4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887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C507FE0B-1D85-019A-4C4E-6FFE43AD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C6049BA9-A3C6-B0C6-D351-946F69163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7578EEA8-FF85-BE8A-ECE2-E909A138A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681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0B39D278-B051-1C40-4E6F-8C1CDABD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E0E651F9-E724-2705-F231-00EA22A55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93C39BFA-45F9-9C00-30EB-9E581DBDE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120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C427D0CC-C762-B83D-D59D-A558EEC7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9BAEC00B-131B-815E-23C9-ECA986600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B8813D72-AA60-0126-3B0F-CD0753B5F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182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F6AA84E9-8E01-BE3C-0D3B-F8A7FA9A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>
            <a:extLst>
              <a:ext uri="{FF2B5EF4-FFF2-40B4-BE49-F238E27FC236}">
                <a16:creationId xmlns:a16="http://schemas.microsoft.com/office/drawing/2014/main" id="{902A385D-3649-A268-6085-5A21014FB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>
            <a:extLst>
              <a:ext uri="{FF2B5EF4-FFF2-40B4-BE49-F238E27FC236}">
                <a16:creationId xmlns:a16="http://schemas.microsoft.com/office/drawing/2014/main" id="{A9B053EB-2CEB-B963-1F79-A69F161F0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984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0F9E704A-4780-A09B-4803-926E6097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FCD00E69-59F6-929A-1793-EAAF0C364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7A2BCD41-426F-3085-5BAF-E58E23B2E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484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7BB91FC4-477C-CEF3-9A21-8655A5D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8D5838D1-A407-011E-2ED0-0FDFAE795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6518482E-D2D6-898E-C2BE-2D1267C09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24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2869434D-3980-5DDB-F3A2-AD64CD3F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8A79E0F1-DBE1-5C9F-1C03-7DFE102CF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F9A8747E-583B-B700-7D3D-6A483828A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653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1A51E1BA-14FD-9CA0-886B-5DCDDA55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40C1AB97-5B50-688C-CC34-ADEDED980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39C1330C-5AA2-8840-7B7D-5647A9A0B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472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AFBA1F94-096A-853B-59DE-4698ADA3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392430ED-053E-2B5C-1779-CD3920952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1E937E64-36CA-DEFC-1723-D963240DE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577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DBE9AC11-0761-28CE-9789-70A9DA56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B24A6A2E-2EFF-472A-2A56-426F3116B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FD3C8F4E-32CD-617E-6680-0D79FE34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9869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F7C5A8E9-5E0A-D087-4519-DF4A6E8E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4A492C6D-BF81-E49B-BF9F-D0141341D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1A87B51F-A7E7-C131-B005-8030BA83D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9357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762F04DF-146C-3638-FFD9-725BA39C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8B16903F-F8BF-0F85-4D20-17879E44D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F8239D61-CE29-EDCF-6AF5-2A7A29E65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948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F87D20A8-D310-61CA-17BA-A6F12099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>
            <a:extLst>
              <a:ext uri="{FF2B5EF4-FFF2-40B4-BE49-F238E27FC236}">
                <a16:creationId xmlns:a16="http://schemas.microsoft.com/office/drawing/2014/main" id="{7DB9A2EE-D07F-4693-B512-2517E21DC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>
            <a:extLst>
              <a:ext uri="{FF2B5EF4-FFF2-40B4-BE49-F238E27FC236}">
                <a16:creationId xmlns:a16="http://schemas.microsoft.com/office/drawing/2014/main" id="{ACC7EB9E-78B2-484E-25D5-81937DFE4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77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7" r:id="rId5"/>
    <p:sldLayoutId id="2147483658" r:id="rId6"/>
    <p:sldLayoutId id="2147483662" r:id="rId7"/>
    <p:sldLayoutId id="2147483669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Document Scanner Project</a:t>
            </a:r>
            <a:endParaRPr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Hanken Grotesk"/>
                <a:ea typeface="Hanken Grotesk"/>
                <a:cs typeface="Hanken Grotesk"/>
                <a:sym typeface="Hanken Grotesk"/>
              </a:rPr>
              <a:t>Image Processing ELEC-412</a:t>
            </a:r>
            <a:br>
              <a:rPr lang="en" dirty="0"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lang="en" dirty="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dirty="0">
                <a:latin typeface="Hanken Grotesk"/>
                <a:ea typeface="Hanken Grotesk"/>
                <a:cs typeface="Hanken Grotesk"/>
                <a:sym typeface="Hanken Grotesk"/>
              </a:rPr>
              <a:t>BRAHMI Nisrin - OBEID Hassan- VOSKANYAN Andranik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2419AB5D-ACB6-3906-8255-8B49539A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5A4CB8EA-6D07-B494-0305-69DC53CE3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Canny Edge Detection Steps</a:t>
            </a:r>
            <a:endParaRPr dirty="0"/>
          </a:p>
        </p:txBody>
      </p:sp>
      <p:sp>
        <p:nvSpPr>
          <p:cNvPr id="544" name="Google Shape;544;p47">
            <a:extLst>
              <a:ext uri="{FF2B5EF4-FFF2-40B4-BE49-F238E27FC236}">
                <a16:creationId xmlns:a16="http://schemas.microsoft.com/office/drawing/2014/main" id="{9D18B2D9-678A-8616-A93E-6327931602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8734" y="1783400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Enables processing on a single value set instead of all color channels</a:t>
            </a:r>
            <a:endParaRPr dirty="0"/>
          </a:p>
        </p:txBody>
      </p:sp>
      <p:sp>
        <p:nvSpPr>
          <p:cNvPr id="545" name="Google Shape;545;p47">
            <a:extLst>
              <a:ext uri="{FF2B5EF4-FFF2-40B4-BE49-F238E27FC236}">
                <a16:creationId xmlns:a16="http://schemas.microsoft.com/office/drawing/2014/main" id="{DFDB85F8-8695-DE4B-2BBD-037CF5E106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19800" y="1763316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Attenuates noise components concentrated in high-frequency regions</a:t>
            </a:r>
            <a:endParaRPr dirty="0"/>
          </a:p>
        </p:txBody>
      </p:sp>
      <p:sp>
        <p:nvSpPr>
          <p:cNvPr id="546" name="Google Shape;546;p47">
            <a:extLst>
              <a:ext uri="{FF2B5EF4-FFF2-40B4-BE49-F238E27FC236}">
                <a16:creationId xmlns:a16="http://schemas.microsoft.com/office/drawing/2014/main" id="{207F5A09-1DF7-FDD8-6323-361A9D6FC62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8741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4.Magnitude and angles</a:t>
            </a:r>
            <a:endParaRPr dirty="0"/>
          </a:p>
        </p:txBody>
      </p:sp>
      <p:sp>
        <p:nvSpPr>
          <p:cNvPr id="547" name="Google Shape;547;p47">
            <a:extLst>
              <a:ext uri="{FF2B5EF4-FFF2-40B4-BE49-F238E27FC236}">
                <a16:creationId xmlns:a16="http://schemas.microsoft.com/office/drawing/2014/main" id="{9E0A916A-BBEF-595D-3585-5B61A22F413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18000" y="1487110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2.Gaussian </a:t>
            </a:r>
            <a:br>
              <a:rPr lang="en" dirty="0"/>
            </a:br>
            <a:r>
              <a:rPr lang="en" dirty="0"/>
              <a:t>Blur</a:t>
            </a:r>
            <a:endParaRPr dirty="0"/>
          </a:p>
        </p:txBody>
      </p:sp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2DE018C0-C3E6-C794-BDAC-56E6617F1D6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65134" y="1487110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Grayscale image</a:t>
            </a:r>
            <a:endParaRPr dirty="0"/>
          </a:p>
        </p:txBody>
      </p:sp>
      <p:sp>
        <p:nvSpPr>
          <p:cNvPr id="549" name="Google Shape;549;p47">
            <a:extLst>
              <a:ext uri="{FF2B5EF4-FFF2-40B4-BE49-F238E27FC236}">
                <a16:creationId xmlns:a16="http://schemas.microsoft.com/office/drawing/2014/main" id="{8C0270F0-725A-A199-0891-5DFF676B115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72334" y="3751526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Compute gradient magnitude and the direction</a:t>
            </a:r>
            <a:endParaRPr dirty="0"/>
          </a:p>
        </p:txBody>
      </p:sp>
      <p:sp>
        <p:nvSpPr>
          <p:cNvPr id="550" name="Google Shape;550;p47">
            <a:extLst>
              <a:ext uri="{FF2B5EF4-FFF2-40B4-BE49-F238E27FC236}">
                <a16:creationId xmlns:a16="http://schemas.microsoft.com/office/drawing/2014/main" id="{30021DD3-6A18-691F-9F0C-5B601767D28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Suppress non-maximum pixels along the gradient to retain local maxima</a:t>
            </a:r>
            <a:endParaRPr dirty="0"/>
          </a:p>
        </p:txBody>
      </p:sp>
      <p:sp>
        <p:nvSpPr>
          <p:cNvPr id="551" name="Google Shape;551;p47">
            <a:extLst>
              <a:ext uri="{FF2B5EF4-FFF2-40B4-BE49-F238E27FC236}">
                <a16:creationId xmlns:a16="http://schemas.microsoft.com/office/drawing/2014/main" id="{E3C7F13D-3D15-9CEC-CB1E-9E0BB7F16CD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63666" y="1763316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Fast way to get x and y grads to that we compute grad</a:t>
            </a:r>
          </a:p>
        </p:txBody>
      </p:sp>
      <p:sp>
        <p:nvSpPr>
          <p:cNvPr id="552" name="Google Shape;552;p47">
            <a:extLst>
              <a:ext uri="{FF2B5EF4-FFF2-40B4-BE49-F238E27FC236}">
                <a16:creationId xmlns:a16="http://schemas.microsoft.com/office/drawing/2014/main" id="{AAB70DE7-9F74-5A6E-772A-DC486ACFABA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Allows selection of weak edges based on their connection to strong ones</a:t>
            </a:r>
            <a:endParaRPr dirty="0"/>
          </a:p>
        </p:txBody>
      </p:sp>
      <p:sp>
        <p:nvSpPr>
          <p:cNvPr id="553" name="Google Shape;553;p47">
            <a:extLst>
              <a:ext uri="{FF2B5EF4-FFF2-40B4-BE49-F238E27FC236}">
                <a16:creationId xmlns:a16="http://schemas.microsoft.com/office/drawing/2014/main" id="{1AB9A02F-27F5-D304-1F36-2064A93AB22C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760066" y="1487110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3.Sobel Operators</a:t>
            </a:r>
            <a:endParaRPr dirty="0"/>
          </a:p>
        </p:txBody>
      </p:sp>
      <p:sp>
        <p:nvSpPr>
          <p:cNvPr id="554" name="Google Shape;554;p47">
            <a:extLst>
              <a:ext uri="{FF2B5EF4-FFF2-40B4-BE49-F238E27FC236}">
                <a16:creationId xmlns:a16="http://schemas.microsoft.com/office/drawing/2014/main" id="{7E7BEEE7-EA92-9549-3DA4-003406A2EA0F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5.Non-max Suppression</a:t>
            </a:r>
            <a:endParaRPr dirty="0"/>
          </a:p>
        </p:txBody>
      </p:sp>
      <p:sp>
        <p:nvSpPr>
          <p:cNvPr id="555" name="Google Shape;555;p47">
            <a:extLst>
              <a:ext uri="{FF2B5EF4-FFF2-40B4-BE49-F238E27FC236}">
                <a16:creationId xmlns:a16="http://schemas.microsoft.com/office/drawing/2014/main" id="{196F9D5C-053E-0BF0-C9DD-6F9F156DD5CB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6.Thresholding with hysteresis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117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6D609E18-5B5A-03D8-D7F1-F3275A9E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>
            <a:extLst>
              <a:ext uri="{FF2B5EF4-FFF2-40B4-BE49-F238E27FC236}">
                <a16:creationId xmlns:a16="http://schemas.microsoft.com/office/drawing/2014/main" id="{88CDFF82-CF51-C059-325C-A40020F9F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050" y="1856113"/>
            <a:ext cx="5827800" cy="1024500"/>
          </a:xfr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dirty="0"/>
              <a:t>Gaussian Blur</a:t>
            </a:r>
          </a:p>
        </p:txBody>
      </p:sp>
      <p:sp>
        <p:nvSpPr>
          <p:cNvPr id="381" name="Google Shape;381;p39">
            <a:extLst>
              <a:ext uri="{FF2B5EF4-FFF2-40B4-BE49-F238E27FC236}">
                <a16:creationId xmlns:a16="http://schemas.microsoft.com/office/drawing/2014/main" id="{96D07EBC-497B-D88A-5949-532AC9194E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359389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342D8ADA-49DF-2F6F-4B4B-A1E6E8AA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78419003-C9E3-51BE-67AF-86D9310725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does it look like ?</a:t>
            </a:r>
            <a:endParaRPr dirty="0"/>
          </a:p>
        </p:txBody>
      </p:sp>
      <p:sp>
        <p:nvSpPr>
          <p:cNvPr id="845" name="Google Shape;845;p59">
            <a:extLst>
              <a:ext uri="{FF2B5EF4-FFF2-40B4-BE49-F238E27FC236}">
                <a16:creationId xmlns:a16="http://schemas.microsoft.com/office/drawing/2014/main" id="{6CB448A6-09EA-DAC6-7AA9-8608FEE6BB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Blurring removes high-frequency components (like noise).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Noise could otherwise lead to false edge detections.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Thus operating on meaningful intensity changes rather than random noise.</a:t>
            </a:r>
            <a:endParaRPr dirty="0"/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34201244-F766-2299-D439-FD933FAE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284" y="1219200"/>
            <a:ext cx="4758845" cy="3023616"/>
          </a:xfrm>
          <a:prstGeom prst="rect">
            <a:avLst/>
          </a:prstGeom>
        </p:spPr>
      </p:pic>
      <p:pic>
        <p:nvPicPr>
          <p:cNvPr id="2055" name="Picture 7" descr="Edge Detection with Gaussian Blur - Rhea">
            <a:extLst>
              <a:ext uri="{FF2B5EF4-FFF2-40B4-BE49-F238E27FC236}">
                <a16:creationId xmlns:a16="http://schemas.microsoft.com/office/drawing/2014/main" id="{47C0F7A8-88D8-7882-7FDF-43C0786371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" t="2958" r="58601" b="64148"/>
          <a:stretch>
            <a:fillRect/>
          </a:stretch>
        </p:blipFill>
        <p:spPr bwMode="auto">
          <a:xfrm>
            <a:off x="5240227" y="1059449"/>
            <a:ext cx="1966758" cy="56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40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CE62658B-BE10-7FE9-7795-DC302A97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>
            <a:extLst>
              <a:ext uri="{FF2B5EF4-FFF2-40B4-BE49-F238E27FC236}">
                <a16:creationId xmlns:a16="http://schemas.microsoft.com/office/drawing/2014/main" id="{9EB4B8F1-D8BD-DC71-3BFA-ED27D52E2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050" y="1856113"/>
            <a:ext cx="5827800" cy="1024500"/>
          </a:xfr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dirty="0"/>
              <a:t>Sobel Operators</a:t>
            </a:r>
          </a:p>
        </p:txBody>
      </p:sp>
      <p:sp>
        <p:nvSpPr>
          <p:cNvPr id="381" name="Google Shape;381;p39">
            <a:extLst>
              <a:ext uri="{FF2B5EF4-FFF2-40B4-BE49-F238E27FC236}">
                <a16:creationId xmlns:a16="http://schemas.microsoft.com/office/drawing/2014/main" id="{0B2E6E87-DA1A-EBA4-2D7D-8955194819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66099" y="2881313"/>
            <a:ext cx="7077901" cy="404812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Efficient method to compute image gradients</a:t>
            </a:r>
          </a:p>
        </p:txBody>
      </p:sp>
    </p:spTree>
    <p:extLst>
      <p:ext uri="{BB962C8B-B14F-4D97-AF65-F5344CB8AC3E}">
        <p14:creationId xmlns:p14="http://schemas.microsoft.com/office/powerpoint/2010/main" val="261512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38A61A2B-5A99-2EF9-D916-CF731154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C361FFFA-5646-505E-B577-9C1816F80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75" y="643109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Sobel Operators</a:t>
            </a:r>
            <a:endParaRPr dirty="0"/>
          </a:p>
        </p:txBody>
      </p:sp>
      <p:sp>
        <p:nvSpPr>
          <p:cNvPr id="845" name="Google Shape;845;p59">
            <a:extLst>
              <a:ext uri="{FF2B5EF4-FFF2-40B4-BE49-F238E27FC236}">
                <a16:creationId xmlns:a16="http://schemas.microsoft.com/office/drawing/2014/main" id="{02EB934D-CC8D-3692-3C17-4DD14DD630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875" y="1285284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Sobel operators approximate image gradients in the x and y directions.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center value of both Sobel kernels emphasizes direct intensity differences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39C605-D950-A2D8-7B99-E8CDE3618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5026" y="859787"/>
            <a:ext cx="4180099" cy="22613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F8EAD8-9A78-693D-55C0-F04B237DE2F7}"/>
              </a:ext>
            </a:extLst>
          </p:cNvPr>
          <p:cNvSpPr txBox="1"/>
          <p:nvPr/>
        </p:nvSpPr>
        <p:spPr>
          <a:xfrm>
            <a:off x="878875" y="3240107"/>
            <a:ext cx="6713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Figtree Black"/>
                <a:sym typeface="Figtree Black"/>
              </a:rPr>
              <a:t>Gradient magnitude and direction are now obtainable 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FA1087E8-B329-61FA-EE01-69989C3DF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802" y="3594050"/>
            <a:ext cx="3922395" cy="110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4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E4A477C6-0B60-EE52-1947-42343DF1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>
            <a:extLst>
              <a:ext uri="{FF2B5EF4-FFF2-40B4-BE49-F238E27FC236}">
                <a16:creationId xmlns:a16="http://schemas.microsoft.com/office/drawing/2014/main" id="{4ABE6C04-EE19-C384-3E53-3C74CEB1A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9072" y="1856113"/>
            <a:ext cx="6711778" cy="1024500"/>
          </a:xfr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dirty="0"/>
              <a:t>Non Max Suppresion</a:t>
            </a:r>
          </a:p>
        </p:txBody>
      </p:sp>
      <p:sp>
        <p:nvSpPr>
          <p:cNvPr id="381" name="Google Shape;381;p39">
            <a:extLst>
              <a:ext uri="{FF2B5EF4-FFF2-40B4-BE49-F238E27FC236}">
                <a16:creationId xmlns:a16="http://schemas.microsoft.com/office/drawing/2014/main" id="{A76589DD-029C-FAFE-77C6-2843CD5CFC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25378" y="3003233"/>
            <a:ext cx="7205472" cy="404812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Keeps strongest edges by removing non-maximum pixels along the gradient direction.</a:t>
            </a:r>
          </a:p>
        </p:txBody>
      </p:sp>
    </p:spTree>
    <p:extLst>
      <p:ext uri="{BB962C8B-B14F-4D97-AF65-F5344CB8AC3E}">
        <p14:creationId xmlns:p14="http://schemas.microsoft.com/office/powerpoint/2010/main" val="40735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93F7BA3E-C5FB-8F31-3740-50C409DC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51F6D085-74E1-4BD1-1B70-31795AB35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75" y="643109"/>
            <a:ext cx="420593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Non Max Formalism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4E1F8-B3D7-156F-20E7-6B01D8B2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98074" y="1716981"/>
            <a:ext cx="6547852" cy="17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3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1F7CF00B-5791-7E14-19D0-ACD539E8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DCF057E7-C38B-1E68-D745-356703517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75" y="643109"/>
            <a:ext cx="420593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Resulting output</a:t>
            </a:r>
            <a:endParaRPr dirty="0"/>
          </a:p>
        </p:txBody>
      </p:sp>
      <p:pic>
        <p:nvPicPr>
          <p:cNvPr id="10" name="Picture 9" descr="A group of squares with different colors&#10;&#10;AI-generated content may be incorrect.">
            <a:extLst>
              <a:ext uri="{FF2B5EF4-FFF2-40B4-BE49-F238E27FC236}">
                <a16:creationId xmlns:a16="http://schemas.microsoft.com/office/drawing/2014/main" id="{4413EF12-42A9-EADE-6E27-49812C38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420" y="1285409"/>
            <a:ext cx="5429160" cy="30944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8F7163-2147-46A5-1B44-F4D786E317B6}"/>
              </a:ext>
            </a:extLst>
          </p:cNvPr>
          <p:cNvSpPr txBox="1"/>
          <p:nvPr/>
        </p:nvSpPr>
        <p:spPr>
          <a:xfrm>
            <a:off x="999744" y="4430183"/>
            <a:ext cx="7802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Observe that the gradient direction is always perpendicular to the edge</a:t>
            </a:r>
          </a:p>
        </p:txBody>
      </p:sp>
    </p:spTree>
    <p:extLst>
      <p:ext uri="{BB962C8B-B14F-4D97-AF65-F5344CB8AC3E}">
        <p14:creationId xmlns:p14="http://schemas.microsoft.com/office/powerpoint/2010/main" val="342103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22620F25-34EB-C379-5503-AB2E5195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>
            <a:extLst>
              <a:ext uri="{FF2B5EF4-FFF2-40B4-BE49-F238E27FC236}">
                <a16:creationId xmlns:a16="http://schemas.microsoft.com/office/drawing/2014/main" id="{C1091A1C-15E1-9021-1D80-231E9A5A4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4450" y="2757528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br>
              <a:rPr lang="en" dirty="0"/>
            </a:br>
            <a:br>
              <a:rPr lang="en" dirty="0"/>
            </a:br>
            <a:br>
              <a:rPr lang="en" dirty="0"/>
            </a:br>
            <a:r>
              <a:rPr lang="en" sz="3600" dirty="0"/>
              <a:t>Double thresholding with hysteresis</a:t>
            </a:r>
            <a:br>
              <a:rPr lang="en" sz="3600" dirty="0"/>
            </a:b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77F46-2B19-E0EF-3FDD-726D7C626FD6}"/>
              </a:ext>
            </a:extLst>
          </p:cNvPr>
          <p:cNvSpPr txBox="1"/>
          <p:nvPr/>
        </p:nvSpPr>
        <p:spPr>
          <a:xfrm>
            <a:off x="1749552" y="1475232"/>
            <a:ext cx="5449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igtree Black"/>
                <a:sym typeface="Figtree Black"/>
              </a:rPr>
              <a:t>Canny’s innovative idea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312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82670774-3CE1-D5CD-2A21-E73A9C17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69A36C2E-C21D-9E47-C755-FF3F17982E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double thresholding ?</a:t>
            </a:r>
            <a:endParaRPr dirty="0"/>
          </a:p>
        </p:txBody>
      </p:sp>
      <p:sp>
        <p:nvSpPr>
          <p:cNvPr id="845" name="Google Shape;845;p59">
            <a:extLst>
              <a:ext uri="{FF2B5EF4-FFF2-40B4-BE49-F238E27FC236}">
                <a16:creationId xmlns:a16="http://schemas.microsoft.com/office/drawing/2014/main" id="{F4804BA6-8CCA-2B1B-A7A1-3F15470399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a single threshold risks discarding valuable edge information.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68051-B9AA-B882-CE70-0E3BDDBBCD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0092" y="1239869"/>
            <a:ext cx="5223571" cy="26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5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D95724D2-CAE6-F3C7-A59E-7A1CCCCE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9235DA75-4D55-2421-B225-2BD6AAAEE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4988" y="262222"/>
            <a:ext cx="6732887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Lowering the threshold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8DA38-A425-18E9-994A-452FE323B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68732" y="1238925"/>
            <a:ext cx="4606536" cy="266564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F557FAC-4A79-BC44-B90A-3D49B75A4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242" y="3904574"/>
            <a:ext cx="8339265" cy="1211400"/>
          </a:xfrm>
        </p:spPr>
        <p:txBody>
          <a:bodyPr/>
          <a:lstStyle/>
          <a:p>
            <a:r>
              <a:rPr lang="en-US" dirty="0"/>
              <a:t>Problem: Valuable information is preserved, but some noise remains.</a:t>
            </a:r>
          </a:p>
        </p:txBody>
      </p:sp>
    </p:spTree>
    <p:extLst>
      <p:ext uri="{BB962C8B-B14F-4D97-AF65-F5344CB8AC3E}">
        <p14:creationId xmlns:p14="http://schemas.microsoft.com/office/powerpoint/2010/main" val="4142727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925582C1-83CA-F260-1B4E-E4FD97C5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9FCE5E8C-3D9A-69B5-1A9B-2386D7A169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4988" y="262222"/>
            <a:ext cx="6732887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 ? Double thresholding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74AC38-943F-90D8-0B2D-F6BA10C0E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27566" y="1238925"/>
            <a:ext cx="4888867" cy="266564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B138E3B-F6F3-1EB6-EA5F-9A0E30E3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242" y="3904574"/>
            <a:ext cx="8339265" cy="1211400"/>
          </a:xfrm>
        </p:spPr>
        <p:txBody>
          <a:bodyPr/>
          <a:lstStyle/>
          <a:p>
            <a:r>
              <a:rPr lang="en-US" dirty="0"/>
              <a:t>Allows definitive removal of noise, while uncertain edges are evaluated later based on connectivity.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2B93B-7E2D-DFC7-D126-7718BA8D5367}"/>
              </a:ext>
            </a:extLst>
          </p:cNvPr>
          <p:cNvSpPr txBox="1"/>
          <p:nvPr/>
        </p:nvSpPr>
        <p:spPr>
          <a:xfrm>
            <a:off x="6060989" y="1346886"/>
            <a:ext cx="1396314" cy="32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dirty="0">
                <a:solidFill>
                  <a:schemeClr val="dk1"/>
                </a:solidFill>
                <a:latin typeface="Hanken Grotesk"/>
                <a:sym typeface="Hanken Grotesk"/>
              </a:rPr>
              <a:t>Strong edges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6939B-9D25-EED9-851D-FD9462A0B5D1}"/>
              </a:ext>
            </a:extLst>
          </p:cNvPr>
          <p:cNvSpPr txBox="1"/>
          <p:nvPr/>
        </p:nvSpPr>
        <p:spPr>
          <a:xfrm>
            <a:off x="7177217" y="3059308"/>
            <a:ext cx="19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Hanken Grotesk"/>
              </a:rPr>
              <a:t>Out of interest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6430E-542F-7071-A87E-9271068AA4B6}"/>
              </a:ext>
            </a:extLst>
          </p:cNvPr>
          <p:cNvSpPr txBox="1"/>
          <p:nvPr/>
        </p:nvSpPr>
        <p:spPr>
          <a:xfrm>
            <a:off x="7457303" y="2367930"/>
            <a:ext cx="19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Hanken Grotesk"/>
              </a:rPr>
              <a:t>Weak edges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0CDC718-F6B9-5B4C-A4DB-9BACC22CAF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21180" y="1587846"/>
            <a:ext cx="451021" cy="253310"/>
          </a:xfrm>
          <a:prstGeom prst="curvedConnector3">
            <a:avLst>
              <a:gd name="adj1" fmla="val 500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2D1E4E38-7353-11A1-C320-10FAA9B7B5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32839" y="2521817"/>
            <a:ext cx="1099753" cy="1538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05316B2-1CCE-94C4-27F3-4958FF7FC9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17043" y="3225398"/>
            <a:ext cx="607470" cy="2634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80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982EE885-8A9C-E8F1-EDF9-3BA9D1D7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446A71B1-6F55-DE4E-99FB-D2D65D0F6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4988" y="262222"/>
            <a:ext cx="6732887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Hysteresis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0453F-73FF-74DA-A413-8FEA29B13076}"/>
              </a:ext>
            </a:extLst>
          </p:cNvPr>
          <p:cNvSpPr txBox="1"/>
          <p:nvPr/>
        </p:nvSpPr>
        <p:spPr>
          <a:xfrm>
            <a:off x="674988" y="829675"/>
            <a:ext cx="19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Hanken Grotesk"/>
              </a:rPr>
              <a:t>Based on connectivity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A7F70E2-386B-06AB-4DD2-422EA681F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anny Edge Detection Step by Step in Python — Computer Vision | by Sofiane  Sahir | TDS Archive | Medium">
            <a:extLst>
              <a:ext uri="{FF2B5EF4-FFF2-40B4-BE49-F238E27FC236}">
                <a16:creationId xmlns:a16="http://schemas.microsoft.com/office/drawing/2014/main" id="{4137C193-1070-9F99-A754-563B256D0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43" y="1651380"/>
            <a:ext cx="642937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7907ED-74EC-7A95-20C3-EAA50B01EFEB}"/>
              </a:ext>
            </a:extLst>
          </p:cNvPr>
          <p:cNvSpPr txBox="1"/>
          <p:nvPr/>
        </p:nvSpPr>
        <p:spPr>
          <a:xfrm>
            <a:off x="544360" y="3649010"/>
            <a:ext cx="76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Hanken Grotesk"/>
              </a:rPr>
              <a:t>If a strong pixel is nearby, the weak edge likely belongs to a true edge: it is then promoted.</a:t>
            </a:r>
          </a:p>
        </p:txBody>
      </p:sp>
    </p:spTree>
    <p:extLst>
      <p:ext uri="{BB962C8B-B14F-4D97-AF65-F5344CB8AC3E}">
        <p14:creationId xmlns:p14="http://schemas.microsoft.com/office/powerpoint/2010/main" val="33439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928AAEB0-3239-DF7A-8A30-4D113508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F5822BB8-B714-2EF3-6968-39EB11320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0152" y="612547"/>
            <a:ext cx="3643697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Experimental result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92E1E2-306B-8ABA-1EE8-3BCEF2D64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rcRect l="13747" t="22204" r="11534" b="21194"/>
          <a:stretch>
            <a:fillRect/>
          </a:stretch>
        </p:blipFill>
        <p:spPr>
          <a:xfrm>
            <a:off x="2249417" y="1325653"/>
            <a:ext cx="4645166" cy="2628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839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1C8BA69B-31F9-2811-7C68-4EAB2FC9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>
            <a:extLst>
              <a:ext uri="{FF2B5EF4-FFF2-40B4-BE49-F238E27FC236}">
                <a16:creationId xmlns:a16="http://schemas.microsoft.com/office/drawing/2014/main" id="{90BE5E8E-3623-CF03-DC37-185B5B80E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050" y="1856113"/>
            <a:ext cx="5827800" cy="1024500"/>
          </a:xfr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dirty="0"/>
              <a:t>Hough Transform</a:t>
            </a:r>
          </a:p>
        </p:txBody>
      </p:sp>
      <p:sp>
        <p:nvSpPr>
          <p:cNvPr id="381" name="Google Shape;381;p39">
            <a:extLst>
              <a:ext uri="{FF2B5EF4-FFF2-40B4-BE49-F238E27FC236}">
                <a16:creationId xmlns:a16="http://schemas.microsoft.com/office/drawing/2014/main" id="{F6B786C1-949C-3370-1E42-F3EDBAABE0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75955" y="2881313"/>
            <a:ext cx="7077901" cy="404812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Line Detection through Pixel Alignment Analysis</a:t>
            </a:r>
          </a:p>
        </p:txBody>
      </p:sp>
    </p:spTree>
    <p:extLst>
      <p:ext uri="{BB962C8B-B14F-4D97-AF65-F5344CB8AC3E}">
        <p14:creationId xmlns:p14="http://schemas.microsoft.com/office/powerpoint/2010/main" val="3429528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9D0BC243-9AD5-710D-55A7-33C7DCE0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35EFD46A-4293-6095-2F76-C1D61E2B0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720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Hough Transform</a:t>
            </a:r>
            <a:endParaRPr dirty="0"/>
          </a:p>
        </p:txBody>
      </p:sp>
      <p:sp>
        <p:nvSpPr>
          <p:cNvPr id="544" name="Google Shape;544;p47">
            <a:extLst>
              <a:ext uri="{FF2B5EF4-FFF2-40B4-BE49-F238E27FC236}">
                <a16:creationId xmlns:a16="http://schemas.microsoft.com/office/drawing/2014/main" id="{A8691053-67ED-5991-030A-51E8A84CB4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8734" y="1783400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each </a:t>
            </a:r>
            <a:r>
              <a:rPr lang="en-US" dirty="0" err="1"/>
              <a:t>x,y</a:t>
            </a:r>
            <a:r>
              <a:rPr lang="en-US" dirty="0"/>
              <a:t> we calculate the associated parameters</a:t>
            </a:r>
            <a:endParaRPr dirty="0"/>
          </a:p>
        </p:txBody>
      </p:sp>
      <p:sp>
        <p:nvSpPr>
          <p:cNvPr id="545" name="Google Shape;545;p47">
            <a:extLst>
              <a:ext uri="{FF2B5EF4-FFF2-40B4-BE49-F238E27FC236}">
                <a16:creationId xmlns:a16="http://schemas.microsoft.com/office/drawing/2014/main" id="{6F9ED998-2429-0EA9-45CE-5B67C231988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19800" y="1763316"/>
            <a:ext cx="2325096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identify lines by detecting groups of pixels that are consistently aligned</a:t>
            </a:r>
            <a:endParaRPr dirty="0"/>
          </a:p>
        </p:txBody>
      </p:sp>
      <p:sp>
        <p:nvSpPr>
          <p:cNvPr id="546" name="Google Shape;546;p47">
            <a:extLst>
              <a:ext uri="{FF2B5EF4-FFF2-40B4-BE49-F238E27FC236}">
                <a16:creationId xmlns:a16="http://schemas.microsoft.com/office/drawing/2014/main" id="{E1F9A309-7E86-8088-D3C8-54A967184FB5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872334" y="34491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 Corners Detection</a:t>
            </a:r>
            <a:endParaRPr dirty="0"/>
          </a:p>
        </p:txBody>
      </p:sp>
      <p:sp>
        <p:nvSpPr>
          <p:cNvPr id="547" name="Google Shape;547;p47">
            <a:extLst>
              <a:ext uri="{FF2B5EF4-FFF2-40B4-BE49-F238E27FC236}">
                <a16:creationId xmlns:a16="http://schemas.microsoft.com/office/drawing/2014/main" id="{2B3C4C47-2F37-72D4-7BF6-1A7EA2990C9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18000" y="1057742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Thresholding</a:t>
            </a:r>
            <a:endParaRPr dirty="0"/>
          </a:p>
        </p:txBody>
      </p:sp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3075A9C3-39D3-9B8C-391C-BF2ABA465F12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72334" y="1386662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Accumulator Array</a:t>
            </a:r>
            <a:endParaRPr dirty="0"/>
          </a:p>
        </p:txBody>
      </p:sp>
      <p:sp>
        <p:nvSpPr>
          <p:cNvPr id="549" name="Google Shape;549;p47">
            <a:extLst>
              <a:ext uri="{FF2B5EF4-FFF2-40B4-BE49-F238E27FC236}">
                <a16:creationId xmlns:a16="http://schemas.microsoft.com/office/drawing/2014/main" id="{CFE90CB2-B68A-0014-2BB8-98C45AE9FD1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74134" y="38259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Finding the largest rectangle based on corners</a:t>
            </a:r>
            <a:endParaRPr dirty="0"/>
          </a:p>
        </p:txBody>
      </p:sp>
      <p:sp>
        <p:nvSpPr>
          <p:cNvPr id="551" name="Google Shape;551;p47">
            <a:extLst>
              <a:ext uri="{FF2B5EF4-FFF2-40B4-BE49-F238E27FC236}">
                <a16:creationId xmlns:a16="http://schemas.microsoft.com/office/drawing/2014/main" id="{A5AD722F-E333-8088-91D3-1F1A93ED939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63666" y="1763316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Fast way to get x and y grads to that we compute grad</a:t>
            </a:r>
          </a:p>
        </p:txBody>
      </p:sp>
      <p:sp>
        <p:nvSpPr>
          <p:cNvPr id="553" name="Google Shape;553;p47">
            <a:extLst>
              <a:ext uri="{FF2B5EF4-FFF2-40B4-BE49-F238E27FC236}">
                <a16:creationId xmlns:a16="http://schemas.microsoft.com/office/drawing/2014/main" id="{B71122C7-2491-B0C5-A453-F20653548C44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763666" y="1325200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Orthogonal pairs</a:t>
            </a:r>
            <a:endParaRPr dirty="0"/>
          </a:p>
        </p:txBody>
      </p:sp>
      <p:sp>
        <p:nvSpPr>
          <p:cNvPr id="554" name="Google Shape;554;p47">
            <a:extLst>
              <a:ext uri="{FF2B5EF4-FFF2-40B4-BE49-F238E27FC236}">
                <a16:creationId xmlns:a16="http://schemas.microsoft.com/office/drawing/2014/main" id="{380E3E56-85B2-5914-F36D-B11152B2A40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318000" y="382597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5. Document Isolation and Rectification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264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8D69FAC4-36B0-7CD2-339C-52452BFA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33E177DA-6084-A5A9-2806-EDC80741C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144" y="341977"/>
            <a:ext cx="7229856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Hough transform: Fundamental idea</a:t>
            </a:r>
            <a:endParaRPr dirty="0"/>
          </a:p>
        </p:txBody>
      </p:sp>
      <p:pic>
        <p:nvPicPr>
          <p:cNvPr id="5" name="Picture 4" descr="A diagram of a line and a bunch of sinusoids&#10;&#10;AI-generated content may be incorrect.">
            <a:extLst>
              <a:ext uri="{FF2B5EF4-FFF2-40B4-BE49-F238E27FC236}">
                <a16:creationId xmlns:a16="http://schemas.microsoft.com/office/drawing/2014/main" id="{9DE6047C-7297-9904-1A32-BC1EFA9A0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35" y="1202871"/>
            <a:ext cx="6257730" cy="2737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E0AFC-05FF-FAAA-5780-27120AB40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085" y="3960722"/>
            <a:ext cx="1639449" cy="396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4324DB-B850-0BB8-8CFC-F76C3DB49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501" y="3980293"/>
            <a:ext cx="2638299" cy="3578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A480CD-9941-0DE7-D0C6-F7DB777CC9D4}"/>
              </a:ext>
            </a:extLst>
          </p:cNvPr>
          <p:cNvSpPr txBox="1"/>
          <p:nvPr/>
        </p:nvSpPr>
        <p:spPr>
          <a:xfrm>
            <a:off x="1898474" y="1095244"/>
            <a:ext cx="187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Space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72D9A-AE02-D972-D126-3BE62C3DF16B}"/>
              </a:ext>
            </a:extLst>
          </p:cNvPr>
          <p:cNvSpPr txBox="1"/>
          <p:nvPr/>
        </p:nvSpPr>
        <p:spPr>
          <a:xfrm>
            <a:off x="5290692" y="1091904"/>
            <a:ext cx="187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Space</a:t>
            </a:r>
          </a:p>
        </p:txBody>
      </p:sp>
    </p:spTree>
    <p:extLst>
      <p:ext uri="{BB962C8B-B14F-4D97-AF65-F5344CB8AC3E}">
        <p14:creationId xmlns:p14="http://schemas.microsoft.com/office/powerpoint/2010/main" val="3012976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0FC99622-FA50-806D-2CD3-C25E22BE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AB4C7CCE-3DB8-6D23-81EA-4E0D93911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0152" y="612547"/>
            <a:ext cx="3955448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Accumulator array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5A32B4-AE55-CD41-EDAB-78E79D10C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312" y="1162824"/>
            <a:ext cx="3548490" cy="33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26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B355F3FD-D313-4773-26FE-EE338EB8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9E768B47-5EB6-CF5B-E550-B4D8A1AA9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0152" y="612547"/>
            <a:ext cx="3955448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Thresholding</a:t>
            </a:r>
            <a:endParaRPr lang="en-US" dirty="0"/>
          </a:p>
        </p:txBody>
      </p:sp>
      <p:pic>
        <p:nvPicPr>
          <p:cNvPr id="6146" name="Picture 2" descr="The Hough Transform. The Hough transform is used in digital… | by Luigi  Selmi | Medium">
            <a:extLst>
              <a:ext uri="{FF2B5EF4-FFF2-40B4-BE49-F238E27FC236}">
                <a16:creationId xmlns:a16="http://schemas.microsoft.com/office/drawing/2014/main" id="{41F79D55-97D2-26D0-F13D-5E4BE2AE9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75" y="1590595"/>
            <a:ext cx="6361850" cy="223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8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AD11A723-1B53-DEF2-BFD6-B091055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3CAA6785-6265-4F65-CB9A-0D0A431BF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0152" y="612547"/>
            <a:ext cx="3955448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Orthogonal pairs</a:t>
            </a:r>
          </a:p>
        </p:txBody>
      </p:sp>
      <p:pic>
        <p:nvPicPr>
          <p:cNvPr id="3" name="Picture 2" descr="A screen shot of a paper&#10;&#10;AI-generated content may be incorrect.">
            <a:extLst>
              <a:ext uri="{FF2B5EF4-FFF2-40B4-BE49-F238E27FC236}">
                <a16:creationId xmlns:a16="http://schemas.microsoft.com/office/drawing/2014/main" id="{4A68F254-DC0A-4137-3C84-40AC19A05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84" y="1254847"/>
            <a:ext cx="4312832" cy="339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7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1AE55077-5D34-D9D5-CE93-F688B40F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AEE0776B-5463-DE2D-4F1E-E13F2F740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0152" y="612547"/>
            <a:ext cx="3955448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Corner detection</a:t>
            </a:r>
          </a:p>
        </p:txBody>
      </p:sp>
      <p:pic>
        <p:nvPicPr>
          <p:cNvPr id="3" name="Picture 2" descr="A screen shot of a paper&#10;&#10;AI-generated content may be incorrect.">
            <a:extLst>
              <a:ext uri="{FF2B5EF4-FFF2-40B4-BE49-F238E27FC236}">
                <a16:creationId xmlns:a16="http://schemas.microsoft.com/office/drawing/2014/main" id="{6EFA391A-2DD7-C365-5FF8-AE0D1828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84" y="1254847"/>
            <a:ext cx="4312832" cy="339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1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0DC662A5-91A9-1399-441F-9F82669B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30ED5862-17E9-D385-441E-7D9A0BD1F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0640" y="612547"/>
            <a:ext cx="6955536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5. Document Isolation and Rectification</a:t>
            </a:r>
          </a:p>
        </p:txBody>
      </p:sp>
      <p:pic>
        <p:nvPicPr>
          <p:cNvPr id="4" name="Picture 3" descr="A computer screen shot of a exam&#10;&#10;AI-generated content may be incorrect.">
            <a:extLst>
              <a:ext uri="{FF2B5EF4-FFF2-40B4-BE49-F238E27FC236}">
                <a16:creationId xmlns:a16="http://schemas.microsoft.com/office/drawing/2014/main" id="{A38A1DB7-C01F-5D7E-6F47-E15B5E1A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312" y="1462796"/>
            <a:ext cx="3667052" cy="2889747"/>
          </a:xfrm>
          <a:prstGeom prst="rect">
            <a:avLst/>
          </a:prstGeom>
        </p:spPr>
      </p:pic>
      <p:pic>
        <p:nvPicPr>
          <p:cNvPr id="6" name="Picture 5" descr="A close-up of a document&#10;&#10;AI-generated content may be incorrect.">
            <a:extLst>
              <a:ext uri="{FF2B5EF4-FFF2-40B4-BE49-F238E27FC236}">
                <a16:creationId xmlns:a16="http://schemas.microsoft.com/office/drawing/2014/main" id="{97C4F239-4332-4A92-BD33-D0102EE44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58" y="1462796"/>
            <a:ext cx="3667052" cy="288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12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1748735C-5ADB-881E-67B4-3B0FFABD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>
            <a:extLst>
              <a:ext uri="{FF2B5EF4-FFF2-40B4-BE49-F238E27FC236}">
                <a16:creationId xmlns:a16="http://schemas.microsoft.com/office/drawing/2014/main" id="{AF228106-5B26-571B-B4F1-05BB742EF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220" y="565057"/>
            <a:ext cx="257556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More results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3072A4-7DCD-C062-BD25-4FF866F29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6" y="1571625"/>
            <a:ext cx="3727174" cy="2571750"/>
          </a:xfrm>
          <a:prstGeom prst="rect">
            <a:avLst/>
          </a:prstGeom>
        </p:spPr>
      </p:pic>
      <p:pic>
        <p:nvPicPr>
          <p:cNvPr id="9" name="Picture 8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75694E4-C863-D9CC-F718-19309EEA9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405" y="1571625"/>
            <a:ext cx="326903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65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Extra Features</a:t>
            </a:r>
            <a:endParaRPr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036800"/>
            <a:ext cx="7704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You can delete this slide when you’re done editing the presentation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aphicFrame>
        <p:nvGraphicFramePr>
          <p:cNvPr id="299" name="Google Shape;299;p34"/>
          <p:cNvGraphicFramePr/>
          <p:nvPr>
            <p:extLst>
              <p:ext uri="{D42A27DB-BD31-4B8C-83A1-F6EECF244321}">
                <p14:modId xmlns:p14="http://schemas.microsoft.com/office/powerpoint/2010/main" val="4007106414"/>
              </p:ext>
            </p:extLst>
          </p:nvPr>
        </p:nvGraphicFramePr>
        <p:xfrm>
          <a:off x="726775" y="1536810"/>
          <a:ext cx="7704000" cy="2567925"/>
        </p:xfrm>
        <a:graphic>
          <a:graphicData uri="http://schemas.openxmlformats.org/drawingml/2006/table">
            <a:tbl>
              <a:tblPr>
                <a:noFill/>
                <a:tableStyleId>{FD22DA56-EB7B-4E99-A7E5-FFD76A478E94}</a:tableStyleId>
              </a:tblPr>
              <a:tblGrid>
                <a:gridCol w="23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Manual Hough transform threshold tunning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Tune manually the threshold of  Hough transform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Capture picture through phone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Use your phone for capturing better picture 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See preprocessed image</a:t>
                      </a:r>
                      <a:endParaRPr sz="10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Check Filtered image before scanning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Save </a:t>
                      </a:r>
                      <a:endParaRPr sz="10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Save scanned document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Crop</a:t>
                      </a:r>
                      <a:endParaRPr sz="100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Crop extra parts if there exist</a:t>
                      </a:r>
                      <a:endParaRPr sz="1000" b="1" u="sng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Import</a:t>
                      </a:r>
                      <a:endParaRPr sz="100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Import existing picture for </a:t>
                      </a:r>
                      <a:r>
                        <a:rPr lang="en-US" sz="1000" b="1" u="sng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scunning</a:t>
                      </a: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 </a:t>
                      </a:r>
                      <a:endParaRPr sz="1000" b="1" u="sng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3353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1D5AE925-C61E-4B7E-89EA-105C071B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>
            <a:extLst>
              <a:ext uri="{FF2B5EF4-FFF2-40B4-BE49-F238E27FC236}">
                <a16:creationId xmlns:a16="http://schemas.microsoft.com/office/drawing/2014/main" id="{7F55BC5F-1A48-DEEC-6C48-4E0C94489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050" y="1856113"/>
            <a:ext cx="5827800" cy="1024500"/>
          </a:xfr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/>
            <a:r>
              <a:rPr lang="e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1638831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478</Words>
  <Application>Microsoft Office PowerPoint</Application>
  <PresentationFormat>On-screen Show (16:9)</PresentationFormat>
  <Paragraphs>86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Figtree Black</vt:lpstr>
      <vt:lpstr>Hanken Grotesk</vt:lpstr>
      <vt:lpstr>Arial</vt:lpstr>
      <vt:lpstr>Elegant Black &amp; White Thesis Defense by Slidesgo</vt:lpstr>
      <vt:lpstr>Document Scanner Project</vt:lpstr>
      <vt:lpstr>Canny Edge Detection Steps</vt:lpstr>
      <vt:lpstr>Gaussian Blur</vt:lpstr>
      <vt:lpstr>What does it look like ?</vt:lpstr>
      <vt:lpstr>Sobel Operators</vt:lpstr>
      <vt:lpstr>Sobel Operators</vt:lpstr>
      <vt:lpstr>Non Max Suppresion</vt:lpstr>
      <vt:lpstr>Non Max Formalism</vt:lpstr>
      <vt:lpstr>Resulting output</vt:lpstr>
      <vt:lpstr>   Double thresholding with hysteresis </vt:lpstr>
      <vt:lpstr>Why double thresholding ?</vt:lpstr>
      <vt:lpstr>Lowering the threshold</vt:lpstr>
      <vt:lpstr>Solution ? Double thresholding</vt:lpstr>
      <vt:lpstr>Hysteresis</vt:lpstr>
      <vt:lpstr>Experimental result</vt:lpstr>
      <vt:lpstr>Hough Transform</vt:lpstr>
      <vt:lpstr>Hough Transform</vt:lpstr>
      <vt:lpstr>Hough transform: Fundamental idea</vt:lpstr>
      <vt:lpstr>1. Accumulator array</vt:lpstr>
      <vt:lpstr>2. Thresholding</vt:lpstr>
      <vt:lpstr>3. Orthogonal pairs</vt:lpstr>
      <vt:lpstr>4. Corner detection</vt:lpstr>
      <vt:lpstr>5. Document Isolation and Rectification</vt:lpstr>
      <vt:lpstr>More results</vt:lpstr>
      <vt:lpstr>Extra Features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Andranik Voskanyan</dc:creator>
  <cp:lastModifiedBy>Andranik Voskanyan</cp:lastModifiedBy>
  <cp:revision>6</cp:revision>
  <dcterms:modified xsi:type="dcterms:W3CDTF">2025-06-19T13:40:08Z</dcterms:modified>
</cp:coreProperties>
</file>